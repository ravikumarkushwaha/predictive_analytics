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28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panel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" name="Image 0" descr="Symbio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77240"/>
            <a:ext cx="1517904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NAGPUR.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457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8686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 from Smartphone Sensor Data Using Predictive Modelling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0" y="2834640"/>
            <a:ext cx="5029200" cy="0"/>
          </a:xfrm>
          <a:prstGeom prst="line">
            <a:avLst/>
          </a:prstGeom>
          <a:noFill/>
          <a:ln w="12700">
            <a:solidFill>
              <a:srgbClr val="D5D9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BATCH 2023-27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SEMESTER- 7   |   SECTION - B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RAVI KUMAR KUSHWAHA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 23070521116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are equipped with accelerometers and gyroscopes that capture human movement and body-position data. However, distinguishing between similar activities, such as sitting and standing or walking upstairs and downstairs, can be challenging.</a:t>
            </a:r>
          </a:p>
          <a:p>
            <a:pPr marL="0" indent="0" algn="just">
              <a:buNone/>
            </a:pPr>
            <a:endParaRPr lang="en-US" sz="1100" dirty="0"/>
          </a:p>
          <a:p>
            <a:pPr marL="0" indent="0" algn="just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machine-learning techniques to recognize human activities from smartphone sensor features and compares model performance on the UCI HAR and UCI HAPT datasets to identify the most effective classification model.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 by the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402336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smartphone sensor data be used to recognize human activities?</a:t>
            </a:r>
            <a:endParaRPr lang="en-US" sz="1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machine-learning model performs best on the UCI HAR and UCI HAPT datasets?</a:t>
            </a:r>
            <a:endParaRPr lang="en-US" sz="1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class imbalance affect the recognition of human activities, especially rare postural transitions?</a:t>
            </a:r>
            <a:endParaRPr lang="en-US" sz="1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sensor-derived features contribute most to human activity classification?</a:t>
            </a:r>
            <a:endParaRPr lang="en-US" sz="1000" dirty="0"/>
          </a:p>
        </p:txBody>
      </p:sp>
      <p:sp>
        <p:nvSpPr>
          <p:cNvPr id="30" name="Text 6"/>
          <p:cNvSpPr txBox="1"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31" name="Text 7"/>
          <p:cNvSpPr txBox="1"/>
          <p:nvPr/>
        </p:nvSpPr>
        <p:spPr>
          <a:xfrm>
            <a:off x="4754880" y="2651760"/>
            <a:ext cx="3931920" cy="2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the UCI HAR and UCI HAPT datasets containing smartphone sensor data for human activity recognition.</a:t>
            </a:r>
            <a:endParaRPr lang="en-US" sz="1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and compare four machine-learning models: Logistic Regression, k-Nearest Neighbors (k-NN), Decision Tree, and Random Forest.</a:t>
            </a:r>
            <a:endParaRPr lang="en-US" sz="1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the best-performing model using validation accuracy and macro F1-score.</a:t>
            </a:r>
            <a:endParaRPr lang="en-US" sz="1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selected model on test data using accuracy, precision, recall, F1-score, and confusion matrices.</a:t>
            </a:r>
            <a:endParaRPr lang="en-US" sz="1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the impact of class imbalance and identify important sensor-derived features for activity classification.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Stat card 1"/>
          <p:cNvSpPr/>
          <p:nvPr/>
        </p:nvSpPr>
        <p:spPr>
          <a:xfrm>
            <a:off x="457200" y="123444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7,352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train</a:t>
            </a:r>
            <a:endParaRPr lang="en-US" sz="1200" dirty="0"/>
          </a:p>
        </p:txBody>
      </p:sp>
      <p:sp>
        <p:nvSpPr>
          <p:cNvPr id="8" name="Stat card 2"/>
          <p:cNvSpPr/>
          <p:nvPr/>
        </p:nvSpPr>
        <p:spPr>
          <a:xfrm>
            <a:off x="1874520" y="123444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7452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2,947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test</a:t>
            </a:r>
            <a:endParaRPr lang="en-US" sz="1200" dirty="0"/>
          </a:p>
        </p:txBody>
      </p:sp>
      <p:sp>
        <p:nvSpPr>
          <p:cNvPr id="11" name="Stat card 3"/>
          <p:cNvSpPr/>
          <p:nvPr/>
        </p:nvSpPr>
        <p:spPr>
          <a:xfrm>
            <a:off x="3291840" y="123444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371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Stat card 4"/>
          <p:cNvSpPr/>
          <p:nvPr/>
        </p:nvSpPr>
        <p:spPr>
          <a:xfrm>
            <a:off x="457200" y="251460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7,767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 train</a:t>
            </a:r>
            <a:endParaRPr lang="en-US" sz="1200" dirty="0"/>
          </a:p>
        </p:txBody>
      </p:sp>
      <p:sp>
        <p:nvSpPr>
          <p:cNvPr id="17" name="Stat card 5"/>
          <p:cNvSpPr/>
          <p:nvPr/>
        </p:nvSpPr>
        <p:spPr>
          <a:xfrm>
            <a:off x="1874520" y="251460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7452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3,162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 test</a:t>
            </a:r>
            <a:endParaRPr lang="en-US" sz="1200" dirty="0"/>
          </a:p>
        </p:txBody>
      </p:sp>
      <p:sp>
        <p:nvSpPr>
          <p:cNvPr id="20" name="Stat card 6"/>
          <p:cNvSpPr/>
          <p:nvPr/>
        </p:nvSpPr>
        <p:spPr>
          <a:xfrm>
            <a:off x="3291840" y="2514600"/>
            <a:ext cx="132588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2651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(HAR / HAPT)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34440"/>
          <a:ext cx="3749040" cy="31089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Machine Learning Repository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accelerometer and gyroscope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 time- and frequency-domain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basic activities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HAPT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 adds 6 postural transitions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train/test partitions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Multiclass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and Preprocessing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and no duplicate rows in either dataset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HAR: 986 to 1,407 training windows per class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 basic activities: 987 to 1,423 windows each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 transitions: only 23 to 90 windows each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already scaled between -1 and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600" dirty="0"/>
          </a:p>
        </p:txBody>
      </p:sp>
      <p:sp>
        <p:nvSpPr>
          <p:cNvPr id="8" name="Step 1"/>
          <p:cNvSpPr/>
          <p:nvPr/>
        </p:nvSpPr>
        <p:spPr>
          <a:xfrm>
            <a:off x="4754880" y="1600200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554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b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feature values and duplicate training records.</a:t>
            </a:r>
            <a:endParaRPr lang="en-US" sz="1300" dirty="0"/>
          </a:p>
        </p:txBody>
      </p:sp>
      <p:sp>
        <p:nvSpPr>
          <p:cNvPr id="11" name="Step 2"/>
          <p:cNvSpPr/>
          <p:nvPr/>
        </p:nvSpPr>
        <p:spPr>
          <a:xfrm>
            <a:off x="4754880" y="2221992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1762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and label separation</a:t>
            </a:r>
            <a:b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the 561 input features from activity labels.</a:t>
            </a:r>
            <a:endParaRPr lang="en-US" sz="1300" dirty="0"/>
          </a:p>
        </p:txBody>
      </p:sp>
      <p:sp>
        <p:nvSpPr>
          <p:cNvPr id="14" name="Step 3"/>
          <p:cNvSpPr/>
          <p:nvPr/>
        </p:nvSpPr>
        <p:spPr>
          <a:xfrm>
            <a:off x="4754880" y="2843784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79806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validation and test split</a:t>
            </a:r>
            <a:b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official train/test partitions and created a validation split from training data.</a:t>
            </a:r>
            <a:endParaRPr lang="en-US" sz="1300" dirty="0"/>
          </a:p>
        </p:txBody>
      </p:sp>
      <p:sp>
        <p:nvSpPr>
          <p:cNvPr id="17" name="Step 4"/>
          <p:cNvSpPr/>
          <p:nvPr/>
        </p:nvSpPr>
        <p:spPr>
          <a:xfrm>
            <a:off x="4754880" y="3465576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4198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b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scaling where required by the machine-learning models.</a:t>
            </a:r>
            <a:endParaRPr lang="en-US" sz="1300" dirty="0"/>
          </a:p>
        </p:txBody>
      </p:sp>
      <p:sp>
        <p:nvSpPr>
          <p:cNvPr id="20" name="Step 5"/>
          <p:cNvSpPr/>
          <p:nvPr/>
        </p:nvSpPr>
        <p:spPr>
          <a:xfrm>
            <a:off x="4754880" y="4087368"/>
            <a:ext cx="347472" cy="347472"/>
          </a:xfrm>
          <a:prstGeom prst="ellipse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404164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analysis</a:t>
            </a:r>
            <a:b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class imbalance, especially in HAPT postural transitions.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Stage 1"/>
          <p:cNvSpPr/>
          <p:nvPr/>
        </p:nvSpPr>
        <p:spPr>
          <a:xfrm>
            <a:off x="457200" y="11430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143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Selection (UCI HAR, HAPT)</a:t>
            </a:r>
            <a:endParaRPr lang="en-US" sz="1200" dirty="0"/>
          </a:p>
        </p:txBody>
      </p:sp>
      <p:sp>
        <p:nvSpPr>
          <p:cNvPr id="7" name="Stage 2"/>
          <p:cNvSpPr/>
          <p:nvPr/>
        </p:nvSpPr>
        <p:spPr>
          <a:xfrm>
            <a:off x="2542032" y="11430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15184" y="1143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Understanding and Preprocessing</a:t>
            </a:r>
            <a:endParaRPr lang="en-US" sz="1200" dirty="0"/>
          </a:p>
        </p:txBody>
      </p:sp>
      <p:sp>
        <p:nvSpPr>
          <p:cNvPr id="9" name="Stage 3"/>
          <p:cNvSpPr/>
          <p:nvPr/>
        </p:nvSpPr>
        <p:spPr>
          <a:xfrm>
            <a:off x="4626864" y="11430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C41E24"/>
          </a:solidFill>
          <a:ln w="9525">
            <a:solidFill>
              <a:srgbClr val="C41E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0016" y="1143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Training (4 classifiers)</a:t>
            </a:r>
            <a:endParaRPr lang="en-US" sz="1200" dirty="0"/>
          </a:p>
        </p:txBody>
      </p:sp>
      <p:sp>
        <p:nvSpPr>
          <p:cNvPr id="11" name="Stage 4"/>
          <p:cNvSpPr/>
          <p:nvPr/>
        </p:nvSpPr>
        <p:spPr>
          <a:xfrm>
            <a:off x="6711696" y="11430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84848" y="1143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Validation and Model Selection</a:t>
            </a:r>
            <a:endParaRPr lang="en-US" sz="1200" dirty="0"/>
          </a:p>
        </p:txBody>
      </p:sp>
      <p:sp>
        <p:nvSpPr>
          <p:cNvPr id="13" name="Stage 5"/>
          <p:cNvSpPr/>
          <p:nvPr/>
        </p:nvSpPr>
        <p:spPr>
          <a:xfrm>
            <a:off x="457200" y="20116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2011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Final Test Evaluation</a:t>
            </a:r>
            <a:endParaRPr lang="en-US" sz="1200" dirty="0"/>
          </a:p>
        </p:txBody>
      </p:sp>
      <p:sp>
        <p:nvSpPr>
          <p:cNvPr id="15" name="Stage 6"/>
          <p:cNvSpPr/>
          <p:nvPr/>
        </p:nvSpPr>
        <p:spPr>
          <a:xfrm>
            <a:off x="2542032" y="20116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15184" y="2011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Confusion Matrix and Feature Importance</a:t>
            </a:r>
            <a:endParaRPr lang="en-US" sz="1200" dirty="0"/>
          </a:p>
        </p:txBody>
      </p:sp>
      <p:sp>
        <p:nvSpPr>
          <p:cNvPr id="17" name="Stage 7"/>
          <p:cNvSpPr/>
          <p:nvPr/>
        </p:nvSpPr>
        <p:spPr>
          <a:xfrm>
            <a:off x="4626864" y="20116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9525">
            <a:solidFill>
              <a:srgbClr val="D5D9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0016" y="20116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Saving Results</a:t>
            </a:r>
            <a:endParaRPr lang="en-US" sz="1200" dirty="0"/>
          </a:p>
        </p:txBody>
      </p:sp>
      <p:sp>
        <p:nvSpPr>
          <p:cNvPr id="20" name="Measure Support"/>
          <p:cNvSpPr/>
          <p:nvPr/>
        </p:nvSpPr>
        <p:spPr>
          <a:xfrm>
            <a:off x="457200" y="3246120"/>
            <a:ext cx="26517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mean of class F1 scores; rare classes count equally</a:t>
            </a:r>
            <a:endParaRPr lang="en-US" sz="1300" dirty="0"/>
          </a:p>
        </p:txBody>
      </p:sp>
      <p:sp>
        <p:nvSpPr>
          <p:cNvPr id="23" name="Measure Confidence"/>
          <p:cNvSpPr/>
          <p:nvPr/>
        </p:nvSpPr>
        <p:spPr>
          <a:xfrm>
            <a:off x="3246120" y="3246120"/>
            <a:ext cx="26517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divided by all predictions</a:t>
            </a:r>
            <a:endParaRPr lang="en-US" sz="1300" dirty="0"/>
          </a:p>
        </p:txBody>
      </p:sp>
      <p:sp>
        <p:nvSpPr>
          <p:cNvPr id="26" name="Measure Lift"/>
          <p:cNvSpPr/>
          <p:nvPr/>
        </p:nvSpPr>
        <p:spPr>
          <a:xfrm>
            <a:off x="6035040" y="3246120"/>
            <a:ext cx="2651760" cy="12801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703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correct predictions and class-to-class errors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Header Analysis A: Attribute rules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A: UCI HAR (6 classes)</a:t>
            </a:r>
            <a:endParaRPr lang="en-US" sz="1600" dirty="0"/>
          </a:p>
        </p:txBody>
      </p:sp>
      <p:sp>
        <p:nvSpPr>
          <p:cNvPr id="7" name="Body Analysis A: Attribute rules"/>
          <p:cNvSpPr/>
          <p:nvPr/>
        </p:nvSpPr>
        <p:spPr>
          <a:xfrm>
            <a:off x="457200" y="1554480"/>
            <a:ext cx="411480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7,352 windows, test 2,947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macro F1: LR 98.68%, k-NN 96.67%, DT 93.80%, RF 98.79%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Random Forest</a:t>
            </a:r>
            <a:endParaRPr lang="en-US" sz="1200" dirty="0"/>
          </a:p>
        </p:txBody>
      </p:sp>
      <p:sp>
        <p:nvSpPr>
          <p:cNvPr id="9" name="Header Analysis B: Co-cultivation rules"/>
          <p:cNvSpPr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B: UCI HAPT (12 classes)</a:t>
            </a:r>
            <a:endParaRPr lang="en-US" sz="1600" dirty="0"/>
          </a:p>
        </p:txBody>
      </p:sp>
      <p:sp>
        <p:nvSpPr>
          <p:cNvPr id="11" name="Body Analysis B: Co-cultivation rules"/>
          <p:cNvSpPr/>
          <p:nvPr/>
        </p:nvSpPr>
        <p:spPr>
          <a:xfrm>
            <a:off x="457200" y="3017520"/>
            <a:ext cx="411480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63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7,767 windows, test 3,162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macro F1: LR 84.02%, k-NN 82.42%, DT 79.06%, RF 86.61%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Random Forest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60000"/>
            <a:ext cx="822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settings: </a:t>
            </a: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validation split, random state 42, Random Forest with 250 trees, k-NN with k = 5 (distance-weighted). </a:t>
            </a:r>
            <a:endParaRPr lang="en-US" sz="1100" dirty="0"/>
          </a:p>
        </p:txBody>
      </p:sp>
      <p:pic>
        <p:nvPicPr>
          <p:cNvPr id="41" name="Validation chart" descr="Bar chart of validation macro F1 for each model on UCI HAR and UCI HA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88720"/>
            <a:ext cx="3977640" cy="1777507"/>
          </a:xfrm>
          <a:prstGeom prst="rect">
            <a:avLst/>
          </a:prstGeom>
        </p:spPr>
      </p:pic>
      <p:sp>
        <p:nvSpPr>
          <p:cNvPr id="40" name="Chart note"/>
          <p:cNvSpPr txBox="1"/>
          <p:nvPr/>
        </p:nvSpPr>
        <p:spPr>
          <a:xfrm>
            <a:off x="4709160" y="3086227"/>
            <a:ext cx="3977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result: </a:t>
            </a: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has the highest validation macro F1 on both datasets, so it was selected for the final test.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the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200400" cy="2304288"/>
        </p:xfrm>
        <a:graphic>
          <a:graphicData uri="http://schemas.openxmlformats.org/drawingml/2006/table">
            <a:tbl>
              <a:tblPr/>
              <a:tblGrid>
                <a:gridCol w="150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HAR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HAPT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03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retrained on the full training set and scored once on the official test set. Accuracy follows common classes; macro F1 weights every class equally.</a:t>
            </a:r>
            <a:endParaRPr lang="en-US" sz="1300" dirty="0"/>
          </a:p>
        </p:txBody>
      </p:sp>
      <p:pic>
        <p:nvPicPr>
          <p:cNvPr id="7" name="Image 0" descr="Support versus confidence, Analysis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88720"/>
            <a:ext cx="2330000" cy="1785000"/>
          </a:xfrm>
          <a:prstGeom prst="rect">
            <a:avLst/>
          </a:prstGeom>
        </p:spPr>
      </p:pic>
      <p:pic>
        <p:nvPicPr>
          <p:cNvPr id="5" name="Image 1" descr="Support versus confidence, Analysis 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200" y="1188720"/>
            <a:ext cx="2330000" cy="18790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886200" y="3130000"/>
            <a:ext cx="23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HAR confusion matrix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356200" y="3130000"/>
            <a:ext cx="23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HAPT confusion matrix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3886200" y="3500000"/>
            <a:ext cx="48006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HAR: all 537 LAYING correct; 53 SITTING predicted as STANDING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HAPT: most errors fall in the rare transition classes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Interpretation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HAR: selected classes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023360" cy="1737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WALKING_DOWNSTAIRS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HAPT: selected classes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023360" cy="20848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SIT_TO_STAND (10 records)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SIT_TO_LIE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LIE_TO_STAND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STAND_TO_LIE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5"/>
          <p:cNvSpPr txBox="1"/>
          <p:nvPr/>
        </p:nvSpPr>
        <p:spPr>
          <a:xfrm>
            <a:off x="457200" y="3657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 is perfect; SITTING and STANDING sit near 0.90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Gravity-acceleration features rank highest by Gini importance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657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score F1 0.61 to 0.79, apart from SIT_TO_STAND (only 10 records)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(82.25%) is well below accuracy (91.14%)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457200" y="384048"/>
            <a:ext cx="109728" cy="502920"/>
          </a:xfrm>
          <a:prstGeom prst="rect">
            <a:avLst/>
          </a:prstGeom>
          <a:solidFill>
            <a:srgbClr val="C41E24"/>
          </a:solidFill>
          <a:ln w="12700">
            <a:solidFill>
              <a:srgbClr val="C41E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Symbiosis Institute of Technology, Nagpur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62701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the best model on both datasets: 92.84% accuracy on HAR and 91.14% on HAPT</a:t>
            </a:r>
            <a:endParaRPr lang="en-US" sz="15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F1: 92.66% on HAR and 82.25% on HAPT</a:t>
            </a:r>
            <a:endParaRPr lang="en-US" sz="15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activities are recognised reliably; rare postural transitions remain the main weakness</a:t>
            </a:r>
            <a:endParaRPr lang="en-US" sz="15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engineered features only, related datasets, no subject-wise validation</a:t>
            </a:r>
            <a:endParaRPr lang="en-US" sz="15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class weighting, a fixed MLP, raw-signal CNN or LSTM models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1032</Words>
  <Application>Microsoft Office PowerPoint</Application>
  <PresentationFormat>On-screen Show (16:9)</PresentationFormat>
  <Paragraphs>189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Activity Recognition from Smartphone Sensor Data Using Predictive Modelling</dc:title>
  <dc:subject>PptxGenJS Presentation</dc:subject>
  <dc:creator/>
  <cp:lastModifiedBy>sandesh kumar</cp:lastModifiedBy>
  <cp:revision>4</cp:revision>
  <dcterms:created xsi:type="dcterms:W3CDTF">2026-10-13T10:17:26Z</dcterms:created>
  <dcterms:modified xsi:type="dcterms:W3CDTF">2026-10-18T17:30:31Z</dcterms:modified>
</cp:coreProperties>
</file>